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Respondents by Facility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bubble3D val="0"/>
            <c:spPr>
              <a:solidFill>
                <a:srgbClr val="9C9C9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Hilite</c:v>
                </c:pt>
                <c:pt idx="1">
                  <c:v>Cyberpark</c:v>
                </c:pt>
                <c:pt idx="2">
                  <c:v>Business Park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34</c:v>
                </c:pt>
                <c:pt idx="1">
                  <c:v>14</c:v>
                </c:pt>
                <c:pt idx="2">
                  <c:v>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6B6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Work Mode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 Mode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On-Site</c:v>
                  </c:pt>
                  <c:pt idx="1">
                    <c:v>Hybrid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Work Experience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Experience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&lt; 1 Yr</c:v>
                  </c:pt>
                  <c:pt idx="1">
                    <c:v>1-3 Yrs</c:v>
                  </c:pt>
                  <c:pt idx="2">
                    <c:v>4-6 Yrs</c:v>
                  </c:pt>
                  <c:pt idx="3">
                    <c:v>7-10 Yrs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28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Accessibility Score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Business Park</c:v>
                  </c:pt>
                  <c:pt idx="1">
                    <c:v>Hilite</c:v>
                  </c:pt>
                  <c:pt idx="2">
                    <c:v>Cyberpark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4.42</c:v>
                </c:pt>
                <c:pt idx="1">
                  <c:v>4.24</c:v>
                </c:pt>
                <c:pt idx="2">
                  <c:v>3.93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Good</c:v>
                  </c:pt>
                  <c:pt idx="1">
                    <c:v>Excellent</c:v>
                  </c:pt>
                  <c:pt idx="2">
                    <c:v>Average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19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8A33D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97F1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Parking</c:v>
                  </c:pt>
                  <c:pt idx="1">
                    <c:v>Ecosystem</c:v>
                  </c:pt>
                  <c:pt idx="2">
                    <c:v>Accessibility</c:v>
                  </c:pt>
                  <c:pt idx="3">
                    <c:v>Facilities</c:v>
                  </c:pt>
                  <c:pt idx="4">
                    <c:v>Food</c:v>
                  </c:pt>
                  <c:pt idx="5">
                    <c:v>Elevator</c:v>
                  </c:pt>
                  <c:pt idx="6">
                    <c:v>Security</c:v>
                  </c:pt>
                  <c:pt idx="7">
                    <c:v>Traffic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4.38</c:v>
                </c:pt>
                <c:pt idx="1">
                  <c:v>4.28</c:v>
                </c:pt>
                <c:pt idx="2">
                  <c:v>4.2</c:v>
                </c:pt>
                <c:pt idx="3">
                  <c:v>3.97</c:v>
                </c:pt>
                <c:pt idx="4">
                  <c:v>3.88</c:v>
                </c:pt>
                <c:pt idx="5">
                  <c:v>3.83</c:v>
                </c:pt>
                <c:pt idx="6">
                  <c:v>3.92</c:v>
                </c:pt>
                <c:pt idx="7">
                  <c:v>3.47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</c:v>
                </c:pt>
              </c:strCache>
            </c:strRef>
          </c:tx>
          <c:spPr>
            <a:solidFill>
              <a:srgbClr val="B97F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7F1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C9C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Traffic/Commute</c:v>
                  </c:pt>
                  <c:pt idx="1">
                    <c:v>Elevators</c:v>
                  </c:pt>
                  <c:pt idx="2">
                    <c:v>Security &amp; Entry</c:v>
                  </c:pt>
                  <c:pt idx="3">
                    <c:v>Overall Accessibility</c:v>
                  </c:pt>
                  <c:pt idx="4">
                    <c:v>Other</c:v>
                  </c:pt>
                  <c:pt idx="5">
                    <c:v>Parking</c:v>
                  </c:pt>
                  <c:pt idx="6">
                    <c:v>Food &amp; Essentials</c:v>
                  </c:pt>
                  <c:pt idx="7">
                    <c:v>Facilities &amp; Amenities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&amp; WORKPLACE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FACILITIES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Satisfaction &amp; Workplace Performance Study — Academic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survey of 60 employees across Hilite, Cyberpark and Business Park facilities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how employees experience workplace accessibility and facilities, and identify where targeted improvements will raise satisfaction most.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745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data collected from 60 employees across three facilities, rated across 8 dimensions of accessibility and comfort.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7452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Dimensions Measured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29260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Ecosystem, Security &amp; Entry, Traffic &amp; Commute, Parking, Elevators, Facilities &amp; Amenities, Food Accessibility, and Overall Rating.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PROFILE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Responded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3657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343400" y="1554480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8229600" y="155448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57200" y="4526280"/>
            <a:ext cx="11292840" cy="1280160"/>
          </a:xfrm>
          <a:prstGeom prst="roundRect">
            <a:avLst>
              <a:gd name="adj" fmla="val 5714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777240" y="4709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early-tenure, on-site staff: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work on-site and 85% have joined within the last 3 years — so facility impressions are still forming and can be shaped early.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703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Respondents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4.28 / 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3703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Workplace (Ecosystem) Rating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4.20 / 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55080" y="3703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Accessibility Rating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7033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Satisfaction (Good or Excellent)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CROSS-FACILITY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Accessibility Score by Facility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554480"/>
            <a:ext cx="4434840" cy="4251960"/>
          </a:xfrm>
          <a:prstGeom prst="roundRect">
            <a:avLst>
              <a:gd name="adj" fmla="val 1720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2402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Park leads overall (4.42) despite the smallest headcount (12).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Cyberpark trails the other two facilities (3.93) — the only site with an "Average" rating cluster.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Hilite houses 34 of the 60 respondents (57%), so its score changes carry the most weight for company-wide satisfaction.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Rating Summary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492240" cy="2011680"/>
        </p:xfrm>
        <a:graphic>
          <a:graphicData uri="http://schemas.openxmlformats.org/drawingml/2006/table">
            <a:tbl>
              <a:tblPr/>
              <a:tblGrid>
                <a:gridCol w="1417320"/>
                <a:gridCol w="850392"/>
                <a:gridCol w="850392"/>
                <a:gridCol w="850392"/>
                <a:gridCol w="850392"/>
                <a:gridCol w="758952"/>
                <a:gridCol w="9144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Workplace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Cyberpark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0C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70332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Power BI dashboard — "Location-Wise Facility Rating" table.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315200" y="1600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Workplace Rating Distribution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78040" y="1965960"/>
          <a:ext cx="4572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Score by Accessibility Dimension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112928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OF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Needing Most Improvement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0876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55448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8288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B9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respondents flag Traffic/Commute as their top concern — more than any other single area.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0" y="3749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Elevators (17%) is the second-most cited concern, and — unlike Traffic — is highly facility-specific rather than a shared, company-wide issue.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830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is the weakest link everywhere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Commute scores lowest of all 8 dimensions (3.47/5) at every facility, including the top-rated Business Park (3.17) and even the best performer, Hilite (3.65).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78308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0372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Elevators are a Business Park problem, not a company 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scores swing from 3.17 at Business Park to 4.57 at Cyberpark — a 1.4-point gap pointing to site-specific infrastructure rather than a systemic issue.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4114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Cyberpark underperforms despite good elevators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Cyberpark posts the lowest overall accessibility score (3.93), dragged down by weaker Security (3.57) and Food Accessibility (3.93) satisfaction.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2F0"/>
          </a:solidFill>
          <a:ln w="12700">
            <a:solidFill>
              <a:srgbClr val="F2F2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41148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satisfaction cushions the gaps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6634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88.3% still rate their overall experience Good or Excellent — facility friction exists but isn't yet eroding overall sentiment.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1508760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Ease traffic &amp; commute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87552" y="196596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shuttle service or staggered shift timings company-wide, prioritizing Hilite where 57% of staff are based.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2704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48272" y="1508760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Business Park elevators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48272" y="1965960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 maintenance/capacity review — the score gap vs. other facilities points to a fixable, local infrastructure issue.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7552" y="3136392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focus groups at Cyberpark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7552" y="3593592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into security &amp; entry and food accessibility concerns to close the gap with the other two facilities.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48272" y="3136392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Business Park's strengths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48272" y="3593592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and replicate its parking and ecosystem practices at Hilite and Cyberpark.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782312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82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" y="4764024"/>
            <a:ext cx="4910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sentiment quarterly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7552" y="5221224"/>
            <a:ext cx="4910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staff have under 3 years' tenure — a recurring pulse survey will catch issues while impressions are still forming.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Facilities Are Working — Two Fixes Unlock the Rest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are broadly satisfied 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workplace accessibility (88.3% Good/Excellent), and parking and the general ecosystem are already strong.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&amp; commute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single largest, company-wide friction point, while </a:t>
            </a:r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reliability at Business Park</a:t>
            </a:r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most fixable, localized one. Addressing these two will lift the experience for the majority of the workforce with focused, low-complexity interventions.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394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Workplace Facilities Analysis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2026-09-25T22:06:36Z</dcterms:created>
  <dcterms:modified xsi:type="dcterms:W3CDTF">2026-09-25T22:06:36Z</dcterms:modified>
</cp:coreProperties>
</file>